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8374" y="805011"/>
            <a:ext cx="332710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908374" y="1636812"/>
            <a:ext cx="332710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908374" y="2709863"/>
            <a:ext cx="33271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Reasoning &amp; Agentic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08374" y="3294013"/>
            <a:ext cx="3327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6854 亿参数 | MIT 开源 | 超越 GPT-5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08374" y="3986064"/>
            <a:ext cx="33271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8200"/>
            <a:ext cx="91440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90500"/>
            <a:ext cx="85496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模型概览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1047750"/>
            <a:ext cx="4064050" cy="739676"/>
          </a:xfrm>
          <a:prstGeom prst="roundRect">
            <a:avLst>
              <a:gd name="adj" fmla="val 103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1047750"/>
            <a:ext cx="0" cy="7396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125" y="1174700"/>
            <a:ext cx="3708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9125" y="1384250"/>
            <a:ext cx="37081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6854 亿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(685.4B)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914376"/>
            <a:ext cx="4064050" cy="739676"/>
          </a:xfrm>
          <a:prstGeom prst="roundRect">
            <a:avLst>
              <a:gd name="adj" fmla="val 103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914376"/>
            <a:ext cx="0" cy="739676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125" y="2041327"/>
            <a:ext cx="3708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发布时间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9125" y="2250877"/>
            <a:ext cx="37081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2025年12月1日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1000" y="2781002"/>
            <a:ext cx="4064050" cy="739676"/>
          </a:xfrm>
          <a:prstGeom prst="roundRect">
            <a:avLst>
              <a:gd name="adj" fmla="val 103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4813" y="2781002"/>
            <a:ext cx="0" cy="739676"/>
          </a:xfrm>
          <a:prstGeom prst="line">
            <a:avLst/>
          </a:prstGeom>
          <a:noFill/>
          <a:ln w="47625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125" y="2907953"/>
            <a:ext cx="3708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125" y="3117503"/>
            <a:ext cx="37081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开源协议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1000" y="3647629"/>
            <a:ext cx="4064050" cy="701576"/>
          </a:xfrm>
          <a:prstGeom prst="roundRect">
            <a:avLst>
              <a:gd name="adj" fmla="val 108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4813" y="3647629"/>
            <a:ext cx="0" cy="7015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125" y="3774579"/>
            <a:ext cx="37081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125" y="3984129"/>
            <a:ext cx="370813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deepseek_v32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8950" y="1047750"/>
            <a:ext cx="41453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98950" y="1422350"/>
            <a:ext cx="4064050" cy="147042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性能与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相当</a:t>
            </a:r>
            <a:endParaRPr lang="en-US" sz="1100" dirty="0"/>
          </a:p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高计算变体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Speciale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超越 GPT-5</a:t>
            </a:r>
            <a:endParaRPr lang="en-US" sz="1100" dirty="0"/>
          </a:p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IMO/IOI 国际奥赛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金牌</a:t>
            </a:r>
            <a:endParaRPr lang="en-US" sz="1100" dirty="0"/>
          </a:p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与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深度推理</a:t>
            </a:r>
            <a:endParaRPr lang="en-US" sz="1100" dirty="0"/>
          </a:p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Attention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机制</a:t>
            </a:r>
            <a:endParaRPr lang="en-US" sz="1100" dirty="0"/>
          </a:p>
          <a:p>
            <a:pPr algn="l" marL="101600" indent="-101600">
              <a:lnSpc>
                <a:spcPts val="143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 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智能体任务</a:t>
            </a:r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训练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8200"/>
            <a:ext cx="91440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90500"/>
            <a:ext cx="85496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三大核心技术突破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3901" y="1047750"/>
            <a:ext cx="2751683" cy="35878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3901" y="1076325"/>
            <a:ext cx="2751683" cy="0"/>
          </a:xfrm>
          <a:prstGeom prst="line">
            <a:avLst/>
          </a:prstGeom>
          <a:noFill/>
          <a:ln w="571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401" y="1295400"/>
            <a:ext cx="2418097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4401" y="1965871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Sparse Attention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401" y="2264271"/>
            <a:ext cx="241809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全新高效注意力机制，大幅降低计算复杂度，专为长上下文场景优化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4401" y="2746623"/>
            <a:ext cx="711101" cy="261491"/>
          </a:xfrm>
          <a:prstGeom prst="roundRect">
            <a:avLst>
              <a:gd name="adj" fmla="val 4856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2797373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96084" y="1047750"/>
            <a:ext cx="2751683" cy="35878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96084" y="1076325"/>
            <a:ext cx="2751683" cy="0"/>
          </a:xfrm>
          <a:prstGeom prst="line">
            <a:avLst/>
          </a:prstGeom>
          <a:noFill/>
          <a:ln w="571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6584" y="1295400"/>
            <a:ext cx="2418097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6584" y="1965871"/>
            <a:ext cx="24180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可扩展强化学习框架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6584" y="2292846"/>
            <a:ext cx="241809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强大的 RL 协议配合扩展后训练计算，Speciale 变体超越 GPT-5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6584" y="2775198"/>
            <a:ext cx="711101" cy="261491"/>
          </a:xfrm>
          <a:prstGeom prst="roundRect">
            <a:avLst>
              <a:gd name="adj" fmla="val 4856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13534" y="2825948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奥赛金牌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38267" y="1047750"/>
            <a:ext cx="2751683" cy="358780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8267" y="1076325"/>
            <a:ext cx="2751683" cy="0"/>
          </a:xfrm>
          <a:prstGeom prst="line">
            <a:avLst/>
          </a:prstGeom>
          <a:noFill/>
          <a:ln w="5715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8767" y="1295400"/>
            <a:ext cx="2418097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28767" y="1965871"/>
            <a:ext cx="24180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智能体任务合成管线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8767" y="2292846"/>
            <a:ext cx="241809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将推理能力整合到工具使用场景，系统性生成大规模训练数据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8767" y="2775198"/>
            <a:ext cx="711101" cy="261491"/>
          </a:xfrm>
          <a:prstGeom prst="roundRect">
            <a:avLst>
              <a:gd name="adj" fmla="val 4856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55718" y="2825948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450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55452"/>
            <a:ext cx="91440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90500"/>
            <a:ext cx="423416" cy="355402"/>
          </a:xfrm>
          <a:prstGeom prst="roundRect">
            <a:avLst>
              <a:gd name="adj" fmla="val 2144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253901"/>
            <a:ext cx="172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6816" y="206276"/>
            <a:ext cx="4581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Sparse Attention (DSA)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1000" y="965002"/>
            <a:ext cx="4974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1314152"/>
            <a:ext cx="497433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是一种创新的稀疏注意力机制，通过智能选择性计算，在保持模型质量的同时显著降低计算开销。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1000" y="1860203"/>
            <a:ext cx="49743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209354"/>
            <a:ext cx="4876800" cy="108674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计算效率提升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：大幅减少注意力计算的复杂度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长上下文优化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：专门针对长序列场景设计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性能无损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：保持与稠密注意力相当的模型质量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内存友好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：降低显存占用，支持更大批次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11701" y="965002"/>
            <a:ext cx="3251299" cy="755452"/>
          </a:xfrm>
          <a:prstGeom prst="roundRect">
            <a:avLst>
              <a:gd name="adj" fmla="val 10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535513" y="965002"/>
            <a:ext cx="0" cy="75545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1726" y="1117402"/>
            <a:ext cx="29568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选择性计算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1726" y="1377702"/>
            <a:ext cx="295685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智能识别关键 token 关系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11701" y="1847404"/>
            <a:ext cx="3251299" cy="755452"/>
          </a:xfrm>
          <a:prstGeom prst="roundRect">
            <a:avLst>
              <a:gd name="adj" fmla="val 10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535513" y="1847404"/>
            <a:ext cx="0" cy="75545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1726" y="1999804"/>
            <a:ext cx="29568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动态稀疏模式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1726" y="2260104"/>
            <a:ext cx="295685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自适应调整注意力分布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11701" y="2729805"/>
            <a:ext cx="3251299" cy="755452"/>
          </a:xfrm>
          <a:prstGeom prst="roundRect">
            <a:avLst>
              <a:gd name="adj" fmla="val 10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35513" y="2729805"/>
            <a:ext cx="0" cy="75545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1726" y="2882205"/>
            <a:ext cx="29568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硬件优化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1726" y="3142506"/>
            <a:ext cx="2956852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针对现代 GPU 架构深度优化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81050"/>
            <a:ext cx="91440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10889"/>
            <a:ext cx="423416" cy="340072"/>
          </a:xfrm>
          <a:prstGeom prst="roundRect">
            <a:avLst>
              <a:gd name="adj" fmla="val 2240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274290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6816" y="190500"/>
            <a:ext cx="25357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可扩展强化学习框架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1000" y="95250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1282601"/>
            <a:ext cx="41453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通过实施强大的 RL 协议并扩展后训练计算，实现了突破性的推理能力提升。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739503"/>
            <a:ext cx="4064050" cy="6215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强化学习协议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：优化的奖励模型与训练策略</a:t>
            </a:r>
            <a:endParaRPr lang="en-US" sz="1000" dirty="0"/>
          </a:p>
          <a:p>
            <a:pPr algn="l" marL="88900" indent="-88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扩展后训练计算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：增加推理时计算资源</a:t>
            </a:r>
            <a:endParaRPr lang="en-US" sz="1000" dirty="0"/>
          </a:p>
          <a:p>
            <a:pPr algn="l" marL="88900" indent="-88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思维链优化</a:t>
            </a:r>
            <a:pPr algn="l"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：增强复杂推理路径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462510"/>
            <a:ext cx="4064050" cy="736104"/>
          </a:xfrm>
          <a:prstGeom prst="roundRect">
            <a:avLst>
              <a:gd name="adj" fmla="val 103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589461"/>
            <a:ext cx="38863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DeepSeek-V3.2 ≈ GPT-5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830562"/>
            <a:ext cx="38863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DeepSeek-V3.2-Speciale &gt; GPT-5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98950" y="95250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竞赛成就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8950" y="1282601"/>
            <a:ext cx="4064050" cy="522982"/>
          </a:xfrm>
          <a:prstGeom prst="roundRect">
            <a:avLst>
              <a:gd name="adj" fmla="val 145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901" y="1384102"/>
            <a:ext cx="907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16401" y="1455241"/>
            <a:ext cx="198272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IMO 国际数学奥林匹克 - 金牌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950" y="1907084"/>
            <a:ext cx="4064050" cy="522982"/>
          </a:xfrm>
          <a:prstGeom prst="roundRect">
            <a:avLst>
              <a:gd name="adj" fmla="val 145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5901" y="2008584"/>
            <a:ext cx="907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16401" y="2079724"/>
            <a:ext cx="203721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IOI 国际信息学奥林匹克 - 金牌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2531566"/>
            <a:ext cx="4064050" cy="522982"/>
          </a:xfrm>
          <a:prstGeom prst="roundRect">
            <a:avLst>
              <a:gd name="adj" fmla="val 145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5901" y="2633067"/>
            <a:ext cx="907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16401" y="2704207"/>
            <a:ext cx="97686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ICPC 世界总决赛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8950" y="3156049"/>
            <a:ext cx="4064050" cy="522982"/>
          </a:xfrm>
          <a:prstGeom prst="roundRect">
            <a:avLst>
              <a:gd name="adj" fmla="val 145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5901" y="3257550"/>
            <a:ext cx="907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16401" y="3328690"/>
            <a:ext cx="167258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 2025 中国数学奥林匹克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2950"/>
            <a:ext cx="91440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212824"/>
            <a:ext cx="423416" cy="298252"/>
          </a:xfrm>
          <a:prstGeom prst="roundRect">
            <a:avLst>
              <a:gd name="adj" fmla="val 255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276225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6816" y="190500"/>
            <a:ext cx="31478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大规模智能体任务合成管线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1000" y="91440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合成管线流程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1244501"/>
            <a:ext cx="4064050" cy="1838325"/>
          </a:xfrm>
          <a:prstGeom prst="roundRect">
            <a:avLst>
              <a:gd name="adj" fmla="val 41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1396901"/>
            <a:ext cx="3834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任务场景定义与分类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1644551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1825526"/>
            <a:ext cx="3834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大规模训练数据生成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350" y="2073176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3400" y="2254151"/>
            <a:ext cx="3834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推理与工具使用整合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350" y="2501801"/>
            <a:ext cx="370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400" y="2682776"/>
            <a:ext cx="38344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智能体后训练优化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91440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8950" y="1244501"/>
            <a:ext cx="4064050" cy="625376"/>
          </a:xfrm>
          <a:prstGeom prst="roundRect">
            <a:avLst>
              <a:gd name="adj" fmla="val 121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18000" y="1244501"/>
            <a:ext cx="0" cy="62537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001" y="1371451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 (Tool Calling)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001" y="1581001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函数调用、API 交互、外部服务集成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1971377"/>
            <a:ext cx="4064050" cy="596801"/>
          </a:xfrm>
          <a:prstGeom prst="roundRect">
            <a:avLst>
              <a:gd name="adj" fmla="val 127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18000" y="1971377"/>
            <a:ext cx="0" cy="596801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001" y="2098328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with Tools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4001" y="2279303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推理过程中动态调用工具辅助决策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2669679"/>
            <a:ext cx="4064050" cy="625376"/>
          </a:xfrm>
          <a:prstGeom prst="roundRect">
            <a:avLst>
              <a:gd name="adj" fmla="val 121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18000" y="2669679"/>
            <a:ext cx="0" cy="62537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001" y="2796629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复杂交互环境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001" y="3006179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多轮对话、状态跟踪、任务规划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8950" y="3396555"/>
            <a:ext cx="4064050" cy="625376"/>
          </a:xfrm>
          <a:prstGeom prst="roundRect">
            <a:avLst>
              <a:gd name="adj" fmla="val 121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18000" y="3396555"/>
            <a:ext cx="0" cy="62537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001" y="3523506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泛化能力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001" y="3733056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跨领域任务迁移，适应新场景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8200"/>
            <a:ext cx="91440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90500"/>
            <a:ext cx="85496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模型变体对比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7450" y="1047750"/>
            <a:ext cx="4127599" cy="3587800"/>
          </a:xfrm>
          <a:prstGeom prst="roundRect">
            <a:avLst>
              <a:gd name="adj" fmla="val 35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17450" y="1071563"/>
            <a:ext cx="4127599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1285875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53352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标准版 - 全能型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83192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工具调用 (Tool Calling)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066776"/>
            <a:ext cx="382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Thinking with 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273052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深度推理能力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507903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多轮对话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742754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代码生成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041154"/>
            <a:ext cx="3746599" cy="625376"/>
          </a:xfrm>
          <a:prstGeom prst="roundRect">
            <a:avLst>
              <a:gd name="adj" fmla="val 121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168104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性能水平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3368129"/>
            <a:ext cx="3562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GPT-5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950" y="1047750"/>
            <a:ext cx="4127599" cy="3587800"/>
          </a:xfrm>
          <a:prstGeom prst="roundRect">
            <a:avLst>
              <a:gd name="adj" fmla="val 35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98950" y="1071563"/>
            <a:ext cx="4127599" cy="0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9450" y="1285875"/>
            <a:ext cx="38215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DeepSeek-V3.2-Speciale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89450" y="153352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特别版 - 深度推理专精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9450" y="1831925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工具调用 (不支持)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9450" y="2066776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Thinking with Tools (不支持)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89450" y="230162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极致深度推理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89450" y="2536478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数学/逻辑问题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9450" y="2771329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竞赛级编程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89450" y="3069729"/>
            <a:ext cx="3746599" cy="625376"/>
          </a:xfrm>
          <a:prstGeom prst="roundRect">
            <a:avLst>
              <a:gd name="adj" fmla="val 121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16401" y="3196679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性能水平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6401" y="3396704"/>
            <a:ext cx="3562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GPT-5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38200"/>
            <a:ext cx="91440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90500"/>
            <a:ext cx="85496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使用建议与资源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100965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推荐配置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1339751"/>
            <a:ext cx="4064050" cy="606326"/>
          </a:xfrm>
          <a:prstGeom prst="roundRect">
            <a:avLst>
              <a:gd name="adj" fmla="val 125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339751"/>
            <a:ext cx="0" cy="60632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6050" y="1466701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采样参数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6050" y="1676251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1.0, top_p = 0.95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047577"/>
            <a:ext cx="4064050" cy="653951"/>
          </a:xfrm>
          <a:prstGeom prst="roundRect">
            <a:avLst>
              <a:gd name="adj" fmla="val 116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174528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AutoModelForCausalLM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307878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AutoModelForCausalLM.from_pretrained(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441228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"deepseek-ai/DeepSeek-V3.2")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803029"/>
            <a:ext cx="4064050" cy="606326"/>
          </a:xfrm>
          <a:prstGeom prst="roundRect">
            <a:avLst>
              <a:gd name="adj" fmla="val 125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803029"/>
            <a:ext cx="0" cy="606326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050" y="2929979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Template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6050" y="3110954"/>
            <a:ext cx="38474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developer 角色用于搜索代理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8950" y="1009650"/>
            <a:ext cx="41453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相关链接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8950" y="1339751"/>
            <a:ext cx="4064050" cy="5331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901" y="1441252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模型页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5901" y="1638002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hf.co/deepseek-ai/DeepSeek-V3.2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8950" y="1949053"/>
            <a:ext cx="4064050" cy="5331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901" y="2050554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技术报告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5901" y="2247305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DeepSeek-V3.2/assets/paper.pdf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2558355"/>
            <a:ext cx="4064050" cy="5331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5901" y="2659856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在线体验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5901" y="2856607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chat.deepseek.com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8950" y="3167658"/>
            <a:ext cx="4064050" cy="533102"/>
          </a:xfrm>
          <a:prstGeom prst="roundRect">
            <a:avLst>
              <a:gd name="adj" fmla="val 14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5901" y="3269159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代码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5901" y="3465909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github.com/deepseek-ai/DeepSeek-V3.2-Exp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98950" y="3776960"/>
            <a:ext cx="4064050" cy="399752"/>
          </a:xfrm>
          <a:prstGeom prst="roundRect">
            <a:avLst>
              <a:gd name="adj" fmla="val 190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25901" y="3878461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许可证: MIT License - 完全开源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V3.2</dc:title>
  <dc:subject>Efficient Reasoning &amp; Agentic AI</dc:subject>
  <dc:creator>DeepSeek AI</dc:creator>
  <cp:lastModifiedBy>DeepSeek AI</cp:lastModifiedBy>
  <cp:revision>1</cp:revision>
  <dcterms:created xsi:type="dcterms:W3CDTF">2025-12-02T06:54:50Z</dcterms:created>
  <dcterms:modified xsi:type="dcterms:W3CDTF">2025-12-02T06:54:50Z</dcterms:modified>
</cp:coreProperties>
</file>